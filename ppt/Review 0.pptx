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69" r:id="rId4"/>
    <p:sldId id="268" r:id="rId5"/>
    <p:sldId id="273" r:id="rId6"/>
    <p:sldId id="272" r:id="rId7"/>
    <p:sldId id="275" r:id="rId8"/>
    <p:sldId id="271" r:id="rId9"/>
    <p:sldId id="276"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0762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7593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aatha.co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SMART COMMUNICATIONS </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1809322"/>
            <a:ext cx="3970500" cy="579979"/>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dirty="0">
                <a:latin typeface="Cambria"/>
                <a:ea typeface="Cambria"/>
              </a:rPr>
              <a:t>Batch Number: CAI-G02</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1376653378"/>
              </p:ext>
            </p:extLst>
          </p:nvPr>
        </p:nvGraphicFramePr>
        <p:xfrm>
          <a:off x="560916" y="2286000"/>
          <a:ext cx="5180496" cy="2194620"/>
        </p:xfrm>
        <a:graphic>
          <a:graphicData uri="http://schemas.openxmlformats.org/drawingml/2006/table">
            <a:tbl>
              <a:tblPr firstRow="1" bandRow="1">
                <a:noFill/>
                <a:tableStyleId>{57690726-49DA-4552-BDEB-330DD8EA8BD9}</a:tableStyleId>
              </a:tblPr>
              <a:tblGrid>
                <a:gridCol w="1993352">
                  <a:extLst>
                    <a:ext uri="{9D8B030D-6E8A-4147-A177-3AD203B41FA5}">
                      <a16:colId xmlns:a16="http://schemas.microsoft.com/office/drawing/2014/main" val="20000"/>
                    </a:ext>
                  </a:extLst>
                </a:gridCol>
                <a:gridCol w="3187144">
                  <a:extLst>
                    <a:ext uri="{9D8B030D-6E8A-4147-A177-3AD203B41FA5}">
                      <a16:colId xmlns:a16="http://schemas.microsoft.com/office/drawing/2014/main" val="20001"/>
                    </a:ext>
                  </a:extLst>
                </a:gridCol>
              </a:tblGrid>
              <a:tr h="338334">
                <a:tc>
                  <a:txBody>
                    <a:bodyPr/>
                    <a:lstStyle/>
                    <a:p>
                      <a:pPr marL="0" marR="0" lvl="1"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38334">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US" sz="1800" u="none" strike="noStrike" cap="none" dirty="0" err="1"/>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38334">
                <a:tc>
                  <a:txBody>
                    <a:bodyPr/>
                    <a:lstStyle/>
                    <a:p>
                      <a:pPr marL="0" marR="0" lvl="0" indent="0" algn="ctr" rtl="0">
                        <a:spcBef>
                          <a:spcPts val="0"/>
                        </a:spcBef>
                        <a:spcAft>
                          <a:spcPts val="0"/>
                        </a:spcAft>
                        <a:buNone/>
                      </a:pPr>
                      <a:endParaRPr lang="en-US"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err="1"/>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3833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3833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err="1"/>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3833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err="1"/>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7880808" y="2214712"/>
            <a:ext cx="3750275" cy="2319186"/>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a:ea typeface="Cambria"/>
                <a:cs typeface="Verdana"/>
                <a:sym typeface="Verdana"/>
              </a:rPr>
              <a:t>Under the Supervision of,</a:t>
            </a:r>
            <a:endParaRPr dirty="0">
              <a:latin typeface="Cambria"/>
              <a:ea typeface="Cambria"/>
            </a:endParaRPr>
          </a:p>
          <a:p>
            <a:pPr algn="ctr">
              <a:buSzPts val="2000"/>
            </a:pPr>
            <a:endParaRPr lang="en-GB" sz="2000" b="1" dirty="0">
              <a:solidFill>
                <a:srgbClr val="17365D"/>
              </a:solidFill>
              <a:latin typeface="Cambria"/>
              <a:ea typeface="Cambria"/>
              <a:cs typeface="Verdana"/>
              <a:sym typeface="Verdana"/>
            </a:endParaRPr>
          </a:p>
          <a:p>
            <a:pPr>
              <a:spcBef>
                <a:spcPts val="340"/>
              </a:spcBef>
              <a:buClr>
                <a:srgbClr val="17365D"/>
              </a:buClr>
              <a:buSzPts val="1700"/>
            </a:pPr>
            <a:r>
              <a:rPr lang="en-GB" sz="1700" b="1" i="0" u="none" strike="noStrike" cap="none" dirty="0" err="1">
                <a:solidFill>
                  <a:srgbClr val="17365D"/>
                </a:solidFill>
                <a:latin typeface="Cambria"/>
                <a:ea typeface="Cambria"/>
                <a:cs typeface="Verdana"/>
                <a:sym typeface="Verdana"/>
              </a:rPr>
              <a:t>Dr</a:t>
            </a:r>
            <a:r>
              <a:rPr lang="en-GB" sz="1700" b="1" dirty="0" err="1">
                <a:solidFill>
                  <a:srgbClr val="17365D"/>
                </a:solidFill>
                <a:latin typeface="Cambria"/>
                <a:ea typeface="Cambria"/>
                <a:cs typeface="Verdana"/>
                <a:sym typeface="Verdana"/>
              </a:rPr>
              <a:t>.</a:t>
            </a:r>
            <a:r>
              <a:rPr lang="en-GB" sz="1700" b="1" dirty="0">
                <a:solidFill>
                  <a:srgbClr val="17365D"/>
                </a:solidFill>
                <a:latin typeface="Cambria"/>
                <a:ea typeface="Cambria"/>
                <a:cs typeface="Verdana"/>
                <a:sym typeface="Verdana"/>
              </a:rPr>
              <a:t> Zafar Ali Khan</a:t>
            </a:r>
            <a:endParaRPr dirty="0">
              <a:latin typeface="Cambria"/>
              <a:ea typeface="Cambri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a:ea typeface="Cambria"/>
                <a:cs typeface="Verdana"/>
                <a:sym typeface="Verdana"/>
              </a:rPr>
              <a:t>Associate Professor </a:t>
            </a:r>
            <a:endParaRPr dirty="0">
              <a:latin typeface="Cambria"/>
              <a:ea typeface="Cambri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Review-0</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2000" b="1" i="0" u="none" strike="noStrike" cap="none" dirty="0">
                <a:solidFill>
                  <a:schemeClr val="accent1"/>
                </a:solidFill>
                <a:latin typeface="Cambria"/>
                <a:ea typeface="Cambria"/>
                <a:cs typeface="Verdana"/>
                <a:sym typeface="Verdana"/>
              </a:rPr>
              <a:t>Name of the Program: </a:t>
            </a:r>
            <a:r>
              <a:rPr lang="en-US" sz="2000" b="1" dirty="0">
                <a:solidFill>
                  <a:schemeClr val="tx1"/>
                </a:solidFill>
                <a:latin typeface="Cambria"/>
                <a:ea typeface="Cambria"/>
                <a:cs typeface="Verdana"/>
                <a:sym typeface="Verdana"/>
              </a:rPr>
              <a:t>Computer science and Engineering (AI &amp; ML)</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a:ea typeface="Cambria"/>
                <a:cs typeface="Verdana"/>
                <a:sym typeface="Verdana"/>
              </a:rPr>
              <a:t>Name of the </a:t>
            </a:r>
            <a:r>
              <a:rPr lang="en-US" sz="2000" b="1" dirty="0" err="1">
                <a:solidFill>
                  <a:schemeClr val="accent1"/>
                </a:solidFill>
                <a:latin typeface="Cambria"/>
                <a:ea typeface="Cambria"/>
                <a:cs typeface="Verdana"/>
                <a:sym typeface="Verdana"/>
              </a:rPr>
              <a:t>HoD</a:t>
            </a:r>
            <a:r>
              <a:rPr lang="en-US" sz="2000" b="1" dirty="0">
                <a:solidFill>
                  <a:schemeClr val="accent1"/>
                </a:solidFill>
                <a:latin typeface="Cambria"/>
                <a:ea typeface="Cambria"/>
                <a:cs typeface="Verdana"/>
                <a:sym typeface="Verdana"/>
              </a:rPr>
              <a:t>:  </a:t>
            </a:r>
            <a:r>
              <a:rPr lang="en-US" sz="2000" b="1" dirty="0">
                <a:solidFill>
                  <a:schemeClr val="tx1"/>
                </a:solidFill>
                <a:latin typeface="Cambria"/>
                <a:ea typeface="Cambria"/>
                <a:cs typeface="Verdana"/>
                <a:sym typeface="Verdana"/>
              </a:rPr>
              <a:t>Dr. Zafar Ali Khan N</a:t>
            </a:r>
            <a:endParaRPr lang="en-US" sz="2000" b="1" dirty="0">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2000" b="1" i="0" u="none" strike="noStrike" cap="none" dirty="0">
                <a:solidFill>
                  <a:schemeClr val="accent1"/>
                </a:solidFill>
                <a:latin typeface="Cambria"/>
                <a:ea typeface="Cambria"/>
                <a:cs typeface="Verdana"/>
                <a:sym typeface="Verdana"/>
              </a:rPr>
              <a:t>Name of the Program Project Coordinator: </a:t>
            </a:r>
            <a:r>
              <a:rPr lang="en-US" sz="2000" b="1" dirty="0">
                <a:solidFill>
                  <a:schemeClr val="accent1"/>
                </a:solidFill>
                <a:latin typeface="Cambria"/>
                <a:ea typeface="Cambria"/>
                <a:cs typeface="Verdana"/>
                <a:sym typeface="Verdana"/>
              </a:rPr>
              <a:t> </a:t>
            </a:r>
            <a:r>
              <a:rPr lang="en-US" sz="2000" b="1" dirty="0">
                <a:solidFill>
                  <a:schemeClr val="tx1"/>
                </a:solidFill>
                <a:latin typeface="Cambria"/>
                <a:ea typeface="Cambria"/>
                <a:cs typeface="Verdana"/>
                <a:sym typeface="Verdana"/>
              </a:rPr>
              <a:t>Dr. Afroz Pasha</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0929E77F-FF7A-35D9-BF03-22C5AFF98636}"/>
              </a:ext>
            </a:extLst>
          </p:cNvPr>
          <p:cNvGraphicFramePr>
            <a:graphicFrameLocks noGrp="1"/>
          </p:cNvGraphicFramePr>
          <p:nvPr>
            <p:extLst>
              <p:ext uri="{D42A27DB-BD31-4B8C-83A1-F6EECF244321}">
                <p14:modId xmlns:p14="http://schemas.microsoft.com/office/powerpoint/2010/main" val="476024754"/>
              </p:ext>
            </p:extLst>
          </p:nvPr>
        </p:nvGraphicFramePr>
        <p:xfrm>
          <a:off x="535049" y="2214712"/>
          <a:ext cx="5300144" cy="2319186"/>
        </p:xfrm>
        <a:graphic>
          <a:graphicData uri="http://schemas.openxmlformats.org/drawingml/2006/table">
            <a:tbl>
              <a:tblPr firstRow="1" bandRow="1"/>
              <a:tblGrid>
                <a:gridCol w="2650072">
                  <a:extLst>
                    <a:ext uri="{9D8B030D-6E8A-4147-A177-3AD203B41FA5}">
                      <a16:colId xmlns:a16="http://schemas.microsoft.com/office/drawing/2014/main" val="1573907771"/>
                    </a:ext>
                  </a:extLst>
                </a:gridCol>
                <a:gridCol w="2650072">
                  <a:extLst>
                    <a:ext uri="{9D8B030D-6E8A-4147-A177-3AD203B41FA5}">
                      <a16:colId xmlns:a16="http://schemas.microsoft.com/office/drawing/2014/main" val="2643362030"/>
                    </a:ext>
                  </a:extLst>
                </a:gridCol>
              </a:tblGrid>
              <a:tr h="386531">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a:solidFill>
                          <a:srgbClr val="17365D"/>
                        </a:solidFill>
                      </a:endParaRPr>
                    </a:p>
                  </a:txBody>
                  <a:tcPr marL="91450" marR="91450" marT="45725" marB="45725" anchor="ctr"/>
                </a:tc>
                <a:extLst>
                  <a:ext uri="{0D108BD9-81ED-4DB2-BD59-A6C34878D82A}">
                    <a16:rowId xmlns:a16="http://schemas.microsoft.com/office/drawing/2014/main" val="3250984544"/>
                  </a:ext>
                </a:extLst>
              </a:tr>
              <a:tr h="386531">
                <a:tc>
                  <a:txBody>
                    <a:bodyPr/>
                    <a:lstStyle/>
                    <a:p>
                      <a:pPr marL="0" marR="0" lvl="0" indent="0" algn="ctr" rtl="0">
                        <a:spcBef>
                          <a:spcPts val="0"/>
                        </a:spcBef>
                        <a:spcAft>
                          <a:spcPts val="0"/>
                        </a:spcAft>
                        <a:buFont typeface="+mj-lt"/>
                        <a:buNone/>
                      </a:pPr>
                      <a:r>
                        <a:rPr lang="en-US" sz="1800" u="none" strike="noStrike" cap="none" dirty="0"/>
                        <a:t>20211CAI0044</a:t>
                      </a:r>
                      <a:endParaRPr sz="1800" u="none" strike="noStrike" cap="none" dirty="0"/>
                    </a:p>
                  </a:txBody>
                  <a:tcPr marL="91450" marR="91450" marT="45725" marB="45725" anchor="ctr"/>
                </a:tc>
                <a:tc>
                  <a:txBody>
                    <a:bodyPr/>
                    <a:lstStyle/>
                    <a:p>
                      <a:pPr marL="0" marR="0" lvl="0" indent="0" algn="l" rtl="0">
                        <a:spcBef>
                          <a:spcPts val="0"/>
                        </a:spcBef>
                        <a:spcAft>
                          <a:spcPts val="0"/>
                        </a:spcAft>
                        <a:buNone/>
                      </a:pPr>
                      <a:r>
                        <a:rPr lang="en-US" sz="1800" u="none" strike="noStrike" cap="none" dirty="0"/>
                        <a:t>K. </a:t>
                      </a:r>
                      <a:r>
                        <a:rPr lang="en-US" sz="1800" u="none" strike="noStrike" cap="none" dirty="0" err="1"/>
                        <a:t>Midhun</a:t>
                      </a:r>
                      <a:r>
                        <a:rPr lang="en-US" sz="1800" u="none" strike="noStrike" cap="none" dirty="0"/>
                        <a:t> Kumar</a:t>
                      </a:r>
                    </a:p>
                  </a:txBody>
                  <a:tcPr marL="91450" marR="91450" marT="45725" marB="45725" anchor="ctr"/>
                </a:tc>
                <a:extLst>
                  <a:ext uri="{0D108BD9-81ED-4DB2-BD59-A6C34878D82A}">
                    <a16:rowId xmlns:a16="http://schemas.microsoft.com/office/drawing/2014/main" val="1133618123"/>
                  </a:ext>
                </a:extLst>
              </a:tr>
              <a:tr h="386531">
                <a:tc>
                  <a:txBody>
                    <a:bodyPr/>
                    <a:lstStyle/>
                    <a:p>
                      <a:pPr marL="0" marR="0" lvl="0" indent="0" algn="ctr" rtl="0">
                        <a:spcBef>
                          <a:spcPts val="0"/>
                        </a:spcBef>
                        <a:spcAft>
                          <a:spcPts val="0"/>
                        </a:spcAft>
                        <a:buNone/>
                      </a:pPr>
                      <a:r>
                        <a:rPr lang="en-US" sz="1800" u="none" strike="noStrike" cap="none" dirty="0"/>
                        <a:t>20211CAI0053</a:t>
                      </a:r>
                    </a:p>
                  </a:txBody>
                  <a:tcPr marL="91450" marR="91450" marT="45725" marB="45725" anchor="ctr"/>
                </a:tc>
                <a:tc>
                  <a:txBody>
                    <a:bodyPr/>
                    <a:lstStyle/>
                    <a:p>
                      <a:pPr marL="0" marR="0" lvl="0" indent="0" algn="l" rtl="0">
                        <a:spcBef>
                          <a:spcPts val="0"/>
                        </a:spcBef>
                        <a:spcAft>
                          <a:spcPts val="0"/>
                        </a:spcAft>
                        <a:buNone/>
                      </a:pPr>
                      <a:r>
                        <a:rPr lang="en-US" sz="1800" u="none" strike="noStrike" cap="none" dirty="0"/>
                        <a:t>G. Sunil Kumar Reddy</a:t>
                      </a:r>
                      <a:endParaRPr sz="1800" u="none" strike="noStrike" cap="none" dirty="0"/>
                    </a:p>
                  </a:txBody>
                  <a:tcPr marL="91450" marR="91450" marT="45725" marB="45725" anchor="ctr"/>
                </a:tc>
                <a:extLst>
                  <a:ext uri="{0D108BD9-81ED-4DB2-BD59-A6C34878D82A}">
                    <a16:rowId xmlns:a16="http://schemas.microsoft.com/office/drawing/2014/main" val="4014997836"/>
                  </a:ext>
                </a:extLst>
              </a:tr>
              <a:tr h="386531">
                <a:tc>
                  <a:txBody>
                    <a:bodyPr/>
                    <a:lstStyle/>
                    <a:p>
                      <a:pPr marL="0" marR="0" lvl="0" indent="0" algn="ctr" rtl="0">
                        <a:spcBef>
                          <a:spcPts val="0"/>
                        </a:spcBef>
                        <a:spcAft>
                          <a:spcPts val="0"/>
                        </a:spcAft>
                        <a:buNone/>
                      </a:pPr>
                      <a:r>
                        <a:rPr lang="en-US" sz="1800" u="none" strike="noStrike" cap="none" dirty="0"/>
                        <a:t>20211CAI0110</a:t>
                      </a:r>
                      <a:endParaRPr sz="1800" u="none" strike="noStrike" cap="none" dirty="0"/>
                    </a:p>
                  </a:txBody>
                  <a:tcPr marL="91450" marR="91450" marT="45725" marB="45725" anchor="ctr"/>
                </a:tc>
                <a:tc>
                  <a:txBody>
                    <a:bodyPr/>
                    <a:lstStyle/>
                    <a:p>
                      <a:pPr marL="0" marR="0" lvl="0" indent="0" algn="l" rtl="0">
                        <a:spcBef>
                          <a:spcPts val="0"/>
                        </a:spcBef>
                        <a:spcAft>
                          <a:spcPts val="0"/>
                        </a:spcAft>
                        <a:buNone/>
                      </a:pPr>
                      <a:r>
                        <a:rPr lang="en-US" sz="1800" u="none" strike="noStrike" cap="none" dirty="0"/>
                        <a:t>Akash S</a:t>
                      </a:r>
                    </a:p>
                  </a:txBody>
                  <a:tcPr marL="91450" marR="91450" marT="45725" marB="45725" anchor="ctr"/>
                </a:tc>
                <a:extLst>
                  <a:ext uri="{0D108BD9-81ED-4DB2-BD59-A6C34878D82A}">
                    <a16:rowId xmlns:a16="http://schemas.microsoft.com/office/drawing/2014/main" val="3029217481"/>
                  </a:ext>
                </a:extLst>
              </a:tr>
              <a:tr h="386531">
                <a:tc>
                  <a:txBody>
                    <a:bodyPr/>
                    <a:lstStyle/>
                    <a:p>
                      <a:pPr marL="0" marR="0" lvl="0" indent="0" algn="ctr" rtl="0">
                        <a:spcBef>
                          <a:spcPts val="0"/>
                        </a:spcBef>
                        <a:spcAft>
                          <a:spcPts val="0"/>
                        </a:spcAft>
                        <a:buNone/>
                      </a:pPr>
                      <a:r>
                        <a:rPr lang="en-US" sz="1800" u="none" strike="noStrike" cap="none" dirty="0"/>
                        <a:t>20211CAI0127</a:t>
                      </a:r>
                      <a:endParaRPr sz="1800" u="none" strike="noStrike" cap="none" dirty="0"/>
                    </a:p>
                  </a:txBody>
                  <a:tcPr marL="91450" marR="91450" marT="45725" marB="45725" anchor="ctr"/>
                </a:tc>
                <a:tc>
                  <a:txBody>
                    <a:bodyPr/>
                    <a:lstStyle/>
                    <a:p>
                      <a:pPr marL="0" marR="0" lvl="0" indent="0" algn="l" rtl="0">
                        <a:spcBef>
                          <a:spcPts val="0"/>
                        </a:spcBef>
                        <a:spcAft>
                          <a:spcPts val="0"/>
                        </a:spcAft>
                        <a:buNone/>
                      </a:pPr>
                      <a:r>
                        <a:rPr lang="en-US" sz="1800" u="none" strike="noStrike" cap="none" dirty="0"/>
                        <a:t>D. Narasimha Rao</a:t>
                      </a:r>
                      <a:endParaRPr sz="1800" u="none" strike="noStrike" cap="none" dirty="0"/>
                    </a:p>
                  </a:txBody>
                  <a:tcPr marL="91450" marR="91450" marT="45725" marB="45725" anchor="ctr"/>
                </a:tc>
                <a:extLst>
                  <a:ext uri="{0D108BD9-81ED-4DB2-BD59-A6C34878D82A}">
                    <a16:rowId xmlns:a16="http://schemas.microsoft.com/office/drawing/2014/main" val="3249076091"/>
                  </a:ext>
                </a:extLst>
              </a:tr>
              <a:tr h="386531">
                <a:tc>
                  <a:txBody>
                    <a:bodyPr/>
                    <a:lstStyle/>
                    <a:p>
                      <a:pPr marL="0" marR="0" lvl="0" indent="0" algn="ctr" rtl="0">
                        <a:spcBef>
                          <a:spcPts val="0"/>
                        </a:spcBef>
                        <a:spcAft>
                          <a:spcPts val="0"/>
                        </a:spcAft>
                        <a:buNone/>
                      </a:pPr>
                      <a:r>
                        <a:rPr lang="en-US" sz="1800" u="none" strike="noStrike" cap="none" dirty="0"/>
                        <a:t>20211CAI0160</a:t>
                      </a:r>
                      <a:endParaRPr sz="1800" u="none" strike="noStrike" cap="none" dirty="0"/>
                    </a:p>
                  </a:txBody>
                  <a:tcPr marL="91450" marR="91450" marT="45725" marB="45725" anchor="ctr"/>
                </a:tc>
                <a:tc>
                  <a:txBody>
                    <a:bodyPr/>
                    <a:lstStyle/>
                    <a:p>
                      <a:pPr marL="0" marR="0" lvl="0" indent="0" algn="l" rtl="0">
                        <a:spcBef>
                          <a:spcPts val="0"/>
                        </a:spcBef>
                        <a:spcAft>
                          <a:spcPts val="0"/>
                        </a:spcAft>
                        <a:buNone/>
                      </a:pPr>
                      <a:r>
                        <a:rPr lang="en-US" sz="1800" u="none" strike="noStrike" cap="none" dirty="0"/>
                        <a:t>S. Siva Anjaneyulu</a:t>
                      </a:r>
                      <a:endParaRPr sz="1800" u="none" strike="noStrike" cap="none" dirty="0"/>
                    </a:p>
                  </a:txBody>
                  <a:tcPr marL="91450" marR="91450" marT="45725" marB="45725" anchor="ctr"/>
                </a:tc>
                <a:extLst>
                  <a:ext uri="{0D108BD9-81ED-4DB2-BD59-A6C34878D82A}">
                    <a16:rowId xmlns:a16="http://schemas.microsoft.com/office/drawing/2014/main" val="57529078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Github Link</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dirty="0">
                <a:latin typeface="Cambria"/>
                <a:ea typeface="Cambria"/>
              </a:rPr>
              <a:t>Problem Statement Number: PSCS193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indent="-190500" algn="just">
              <a:spcBef>
                <a:spcPts val="0"/>
              </a:spcBef>
              <a:buNone/>
            </a:pPr>
            <a:r>
              <a:rPr lang="en-US" dirty="0">
                <a:latin typeface="Cambria"/>
                <a:ea typeface="Cambria"/>
              </a:rPr>
              <a:t>Organization:   Human Welfare Association, Varanasi</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dirty="0">
                <a:latin typeface="Cambria"/>
                <a:ea typeface="Cambria"/>
              </a:rPr>
              <a:t>Category (Hardware / Software / Both) : Software</a:t>
            </a:r>
            <a:endParaRPr lang="en-US" dirty="0">
              <a:latin typeface="Cambria" panose="02040503050406030204" pitchFamily="18" charset="0"/>
              <a:ea typeface="Cambria" panose="02040503050406030204" pitchFamily="18" charset="0"/>
            </a:endParaRPr>
          </a:p>
          <a:p>
            <a:pPr marL="0" indent="0" algn="just">
              <a:buNone/>
            </a:pPr>
            <a:r>
              <a:rPr lang="en-US" dirty="0">
                <a:latin typeface="Cambria"/>
                <a:ea typeface="Cambria"/>
              </a:rPr>
              <a:t>   </a:t>
            </a:r>
          </a:p>
          <a:p>
            <a:pPr marL="0" indent="0" algn="just">
              <a:buNone/>
            </a:pPr>
            <a:r>
              <a:rPr lang="en-US" dirty="0">
                <a:latin typeface="Cambria"/>
                <a:ea typeface="Cambria"/>
              </a:rPr>
              <a:t>Problem Description: </a:t>
            </a:r>
          </a:p>
          <a:p>
            <a:pPr marL="0" indent="0" algn="just">
              <a:buNone/>
            </a:pPr>
            <a:endParaRPr lang="en-US" dirty="0">
              <a:latin typeface="Cambria"/>
              <a:ea typeface="Cambria"/>
            </a:endParaRPr>
          </a:p>
          <a:p>
            <a:pPr marL="0" indent="0" algn="just">
              <a:buNone/>
            </a:pPr>
            <a:r>
              <a:rPr lang="en-US" dirty="0">
                <a:latin typeface="Cambria"/>
                <a:ea typeface="Cambria"/>
              </a:rPr>
              <a:t>Our platform empowers rural artisans by allowing them to register, showcase their products, and track sales statistics. Artisans can create and join local events, enhancing community connections and visibility. Initially, they can sell five items via Cash On Delivery to verify authenticity, after which multiple payment options become available. Additionally, we promote popular products and announce an "Artisan of the Month" to motivate and support their craft.</a:t>
            </a:r>
          </a:p>
          <a:p>
            <a:pPr marL="0" indent="0" algn="just">
              <a:buNone/>
            </a:pPr>
            <a:endParaRPr lang="en-US" dirty="0">
              <a:latin typeface="Cambria"/>
              <a:ea typeface="Cambria"/>
            </a:endParaRPr>
          </a:p>
          <a:p>
            <a:pPr marL="0" indent="0" algn="just">
              <a:buNone/>
            </a:pPr>
            <a:r>
              <a:rPr lang="en-US" dirty="0">
                <a:latin typeface="Cambria"/>
                <a:ea typeface="Cambria"/>
              </a:rPr>
              <a:t>Difficulty Level: Simple</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dirty="0"/>
              <a:t>https://github.com/midhun33-sudo/website_for_artisan</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b="1" dirty="0">
                <a:latin typeface="Cambria"/>
                <a:ea typeface="Cambria"/>
              </a:rPr>
              <a:t>Technology Stack Components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016000"/>
            <a:ext cx="11029244" cy="5012267"/>
          </a:xfrm>
          <a:prstGeom prst="rect">
            <a:avLst/>
          </a:prstGeom>
          <a:noFill/>
          <a:ln>
            <a:noFill/>
          </a:ln>
        </p:spPr>
        <p:txBody>
          <a:bodyPr spcFirstLastPara="1" wrap="square" lIns="91425" tIns="45700" rIns="91425" bIns="45700" anchor="t" anchorCtr="0">
            <a:normAutofit fontScale="92500"/>
          </a:bodyPr>
          <a:lstStyle/>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b="1" dirty="0">
                <a:latin typeface="Cambria"/>
                <a:ea typeface="Cambria"/>
              </a:rPr>
              <a:t>Frontend Technologies</a:t>
            </a:r>
            <a:endParaRPr lang="en-US" dirty="0">
              <a:latin typeface="Cambria"/>
              <a:ea typeface="Cambria"/>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b="1" dirty="0">
                <a:latin typeface="Cambria"/>
                <a:ea typeface="Cambria"/>
              </a:rPr>
              <a:t>Languages:</a:t>
            </a:r>
            <a:r>
              <a:rPr lang="en-US" dirty="0">
                <a:latin typeface="Cambria"/>
                <a:ea typeface="Cambria"/>
              </a:rPr>
              <a:t> HTML5, CSS3, JavaScript</a:t>
            </a:r>
          </a:p>
          <a:p>
            <a:pPr marL="342900" lvl="0" indent="-190500" algn="just" rtl="0">
              <a:spcBef>
                <a:spcPts val="0"/>
              </a:spcBef>
              <a:spcAft>
                <a:spcPts val="0"/>
              </a:spcAft>
              <a:buClr>
                <a:schemeClr val="dk1"/>
              </a:buClr>
              <a:buSzPct val="100000"/>
              <a:buNone/>
            </a:pPr>
            <a:r>
              <a:rPr lang="en-US" b="1" dirty="0">
                <a:latin typeface="Cambria"/>
                <a:ea typeface="Cambria"/>
              </a:rPr>
              <a:t>Frameworks/Libraries:</a:t>
            </a:r>
          </a:p>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React.js / Angular / Vue.js: For building interactive and responsive user interfaces.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b="1" dirty="0">
                <a:latin typeface="Cambria"/>
                <a:ea typeface="Cambria"/>
              </a:rPr>
              <a:t>Backend Technologies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b="1" dirty="0">
                <a:latin typeface="Cambria"/>
                <a:ea typeface="Cambria"/>
              </a:rPr>
              <a:t>Programming Languages/Frameworks:</a:t>
            </a:r>
          </a:p>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Node.js with Express.js / Python with Django or Flask</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b="1" dirty="0">
                <a:latin typeface="Cambria"/>
                <a:ea typeface="Cambria"/>
              </a:rPr>
              <a:t>Database Solutions:</a:t>
            </a:r>
          </a:p>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PostgreSQL / MySQL / MongoDB</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B4A97949-3C43-ABA8-2FF7-9500D487F118}"/>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b="1" dirty="0">
                <a:latin typeface="Cambria"/>
                <a:ea typeface="Cambria"/>
              </a:rPr>
              <a:t>Technology Stack Components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636911"/>
          </a:xfrm>
          <a:prstGeom prst="rect">
            <a:avLst/>
          </a:prstGeom>
          <a:noFill/>
          <a:ln>
            <a:noFill/>
          </a:ln>
        </p:spPr>
        <p:txBody>
          <a:bodyPr spcFirstLastPara="1" wrap="square" lIns="91425" tIns="45700" rIns="91425" bIns="45700" anchor="t" anchorCtr="0">
            <a:normAutofit fontScale="25000" lnSpcReduction="20000"/>
          </a:bodyPr>
          <a:lstStyle/>
          <a:p>
            <a:pPr marL="342900" indent="-190500" algn="just">
              <a:lnSpc>
                <a:spcPct val="200000"/>
              </a:lnSpc>
              <a:spcBef>
                <a:spcPts val="0"/>
              </a:spcBef>
              <a:buSzPct val="100000"/>
              <a:buNone/>
            </a:pPr>
            <a:r>
              <a:rPr lang="en-US" sz="8000" b="1" dirty="0">
                <a:latin typeface="Cambria" panose="02040503050406030204" pitchFamily="18" charset="0"/>
                <a:ea typeface="Cambria" panose="02040503050406030204" pitchFamily="18" charset="0"/>
              </a:rPr>
              <a:t>Authentication and Security</a:t>
            </a:r>
            <a:r>
              <a:rPr lang="en-US" sz="8000" dirty="0">
                <a:latin typeface="Cambria" panose="02040503050406030204" pitchFamily="18" charset="0"/>
                <a:ea typeface="Cambria" panose="02040503050406030204" pitchFamily="18" charset="0"/>
              </a:rPr>
              <a:t>:</a:t>
            </a:r>
            <a:endParaRPr lang="en-US" dirty="0"/>
          </a:p>
          <a:p>
            <a:pPr marL="342900" indent="-190500" algn="just">
              <a:lnSpc>
                <a:spcPct val="200000"/>
              </a:lnSpc>
              <a:spcBef>
                <a:spcPts val="0"/>
              </a:spcBef>
              <a:buNone/>
            </a:pPr>
            <a:r>
              <a:rPr lang="en-US" sz="8000" dirty="0">
                <a:latin typeface="Cambria" panose="02040503050406030204" pitchFamily="18" charset="0"/>
                <a:ea typeface="Cambria" panose="02040503050406030204" pitchFamily="18" charset="0"/>
              </a:rPr>
              <a:t>Services: Auth0 / Firebase Authentication</a:t>
            </a:r>
            <a:endParaRPr lang="en-US" dirty="0"/>
          </a:p>
          <a:p>
            <a:pPr marL="342900" indent="-190500" algn="just">
              <a:lnSpc>
                <a:spcPct val="200000"/>
              </a:lnSpc>
              <a:spcBef>
                <a:spcPts val="0"/>
              </a:spcBef>
              <a:buNone/>
            </a:pPr>
            <a:r>
              <a:rPr lang="en-US" sz="8000" dirty="0">
                <a:latin typeface="Cambria" panose="02040503050406030204" pitchFamily="18" charset="0"/>
                <a:ea typeface="Cambria" panose="02040503050406030204" pitchFamily="18" charset="0"/>
              </a:rPr>
              <a:t>Authentication Methods: OAuth / JWT</a:t>
            </a:r>
            <a:endParaRPr lang="en-US" dirty="0"/>
          </a:p>
          <a:p>
            <a:pPr marL="342900" lvl="0" indent="-190500" algn="just" rtl="0">
              <a:lnSpc>
                <a:spcPct val="200000"/>
              </a:lnSpc>
              <a:spcBef>
                <a:spcPts val="0"/>
              </a:spcBef>
              <a:spcAft>
                <a:spcPts val="0"/>
              </a:spcAft>
              <a:buClr>
                <a:schemeClr val="dk1"/>
              </a:buClr>
              <a:buSzPct val="100000"/>
              <a:buNone/>
            </a:pPr>
            <a:r>
              <a:rPr lang="en-US" sz="8000" b="1" dirty="0">
                <a:latin typeface="Cambria"/>
                <a:ea typeface="Cambria"/>
              </a:rPr>
              <a:t>Payment Processing:</a:t>
            </a:r>
          </a:p>
          <a:p>
            <a:pPr marL="342900" lvl="0" indent="-190500" algn="just" rtl="0">
              <a:lnSpc>
                <a:spcPct val="200000"/>
              </a:lnSpc>
              <a:spcBef>
                <a:spcPts val="0"/>
              </a:spcBef>
              <a:spcAft>
                <a:spcPts val="0"/>
              </a:spcAft>
              <a:buClr>
                <a:schemeClr val="dk1"/>
              </a:buClr>
              <a:buSzPct val="100000"/>
              <a:buNone/>
            </a:pPr>
            <a:r>
              <a:rPr lang="en-US" sz="8000" dirty="0">
                <a:latin typeface="Cambria" panose="02040503050406030204" pitchFamily="18" charset="0"/>
                <a:ea typeface="Cambria" panose="02040503050406030204" pitchFamily="18" charset="0"/>
              </a:rPr>
              <a:t>Gateways: Stripe / PayPal / Square</a:t>
            </a:r>
          </a:p>
          <a:p>
            <a:pPr marL="342900" lvl="0" indent="-190500" algn="just" rtl="0">
              <a:lnSpc>
                <a:spcPct val="200000"/>
              </a:lnSpc>
              <a:spcBef>
                <a:spcPts val="0"/>
              </a:spcBef>
              <a:spcAft>
                <a:spcPts val="0"/>
              </a:spcAft>
              <a:buClr>
                <a:schemeClr val="dk1"/>
              </a:buClr>
              <a:buSzPct val="100000"/>
              <a:buNone/>
            </a:pPr>
            <a:r>
              <a:rPr lang="en-US" sz="8000" b="1" dirty="0">
                <a:latin typeface="Cambria"/>
                <a:ea typeface="Cambria"/>
              </a:rPr>
              <a:t>Hosting and Deployment</a:t>
            </a:r>
            <a:r>
              <a:rPr lang="en-US" sz="8000" dirty="0">
                <a:latin typeface="Cambria"/>
                <a:ea typeface="Cambria"/>
              </a:rPr>
              <a:t>:</a:t>
            </a:r>
          </a:p>
          <a:p>
            <a:pPr marL="342900" lvl="0" indent="-190500" algn="just" rtl="0">
              <a:lnSpc>
                <a:spcPct val="200000"/>
              </a:lnSpc>
              <a:spcBef>
                <a:spcPts val="0"/>
              </a:spcBef>
              <a:spcAft>
                <a:spcPts val="0"/>
              </a:spcAft>
              <a:buClr>
                <a:schemeClr val="dk1"/>
              </a:buClr>
              <a:buSzPct val="100000"/>
              <a:buNone/>
            </a:pPr>
            <a:r>
              <a:rPr lang="en-US" sz="8000" dirty="0">
                <a:latin typeface="Cambria"/>
                <a:ea typeface="Cambria"/>
              </a:rPr>
              <a:t>Cloud Platforms:  AWS / Google Cloud Platform / Microsoft Azure</a:t>
            </a:r>
          </a:p>
          <a:p>
            <a:pPr marL="342900" indent="-190500" algn="just">
              <a:lnSpc>
                <a:spcPct val="200000"/>
              </a:lnSpc>
              <a:spcBef>
                <a:spcPts val="0"/>
              </a:spcBef>
              <a:buSzPct val="100000"/>
              <a:buNone/>
            </a:pPr>
            <a:r>
              <a:rPr lang="en-US" sz="8000" dirty="0">
                <a:latin typeface="Cambria"/>
                <a:ea typeface="Cambria"/>
              </a:rPr>
              <a:t>Containerization: Docker / Kubernetes (If usable)</a:t>
            </a:r>
            <a:endParaRPr lang="en-US" sz="8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8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62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and Hardware Requirements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Software</a:t>
            </a:r>
            <a:r>
              <a:rPr lang="en-US" dirty="0">
                <a:latin typeface="Cambria" panose="02040503050406030204" pitchFamily="18" charset="0"/>
                <a:ea typeface="Cambria" panose="02040503050406030204" pitchFamily="18" charset="0"/>
              </a:rPr>
              <a:t> </a:t>
            </a:r>
          </a:p>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Development Tools: Visual Studio Code / IntelliJ IDEA / WebStorm</a:t>
            </a:r>
          </a:p>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Database Management: Prisma / </a:t>
            </a:r>
            <a:r>
              <a:rPr lang="en-US" dirty="0" err="1">
                <a:latin typeface="Cambria" panose="02040503050406030204" pitchFamily="18" charset="0"/>
                <a:ea typeface="Cambria" panose="02040503050406030204" pitchFamily="18" charset="0"/>
              </a:rPr>
              <a:t>Sequelize</a:t>
            </a:r>
            <a:r>
              <a:rPr lang="en-US" dirty="0">
                <a:latin typeface="Cambria" panose="02040503050406030204" pitchFamily="18" charset="0"/>
                <a:ea typeface="Cambria" panose="02040503050406030204" pitchFamily="18" charset="0"/>
              </a:rPr>
              <a:t> /Microsoft SQL Server Management</a:t>
            </a:r>
          </a:p>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Version Control: Git, GitHub / GitLab / Bitbucket</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74251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LIMITATIONS</a:t>
            </a:r>
          </a:p>
        </p:txBody>
      </p:sp>
      <p:sp>
        <p:nvSpPr>
          <p:cNvPr id="2" name="Text Placeholder 1">
            <a:extLst>
              <a:ext uri="{FF2B5EF4-FFF2-40B4-BE49-F238E27FC236}">
                <a16:creationId xmlns:a16="http://schemas.microsoft.com/office/drawing/2014/main" id="{1918655F-C7A9-DA7C-8582-3CFB6FA788FC}"/>
              </a:ext>
            </a:extLst>
          </p:cNvPr>
          <p:cNvSpPr>
            <a:spLocks noGrp="1" noChangeArrowheads="1"/>
          </p:cNvSpPr>
          <p:nvPr>
            <p:ph type="body" idx="1"/>
          </p:nvPr>
        </p:nvSpPr>
        <p:spPr bwMode="auto">
          <a:xfrm>
            <a:off x="812800" y="1163107"/>
            <a:ext cx="9358722"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Artisan Challenges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Market Reach:</a:t>
            </a:r>
            <a:r>
              <a:rPr kumimoji="0" lang="en-US" altLang="en-US" sz="2000" b="0" i="0" u="none" strike="noStrike" cap="none" normalizeH="0" baseline="0" dirty="0">
                <a:ln>
                  <a:noFill/>
                </a:ln>
                <a:solidFill>
                  <a:schemeClr val="tx1"/>
                </a:solidFill>
                <a:effectLst/>
                <a:latin typeface="Arial" panose="020B0604020202020204" pitchFamily="34" charset="0"/>
              </a:rPr>
              <a:t> Difficulty in accessing global markets due to geographic and economic barriers.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Product Management:</a:t>
            </a:r>
            <a:r>
              <a:rPr kumimoji="0" lang="en-US" altLang="en-US" sz="2000" b="0" i="0" u="none" strike="noStrike" cap="none" normalizeH="0" baseline="0" dirty="0">
                <a:ln>
                  <a:noFill/>
                </a:ln>
                <a:solidFill>
                  <a:schemeClr val="tx1"/>
                </a:solidFill>
                <a:effectLst/>
                <a:latin typeface="Arial" panose="020B0604020202020204" pitchFamily="34" charset="0"/>
              </a:rPr>
              <a:t> Lack of effective tools for managing and promoting products online.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Event Coordination:</a:t>
            </a:r>
            <a:r>
              <a:rPr kumimoji="0" lang="en-US" altLang="en-US" sz="2000" b="0" i="0" u="none" strike="noStrike" cap="none" normalizeH="0" baseline="0" dirty="0">
                <a:ln>
                  <a:noFill/>
                </a:ln>
                <a:solidFill>
                  <a:schemeClr val="tx1"/>
                </a:solidFill>
                <a:effectLst/>
                <a:latin typeface="Arial" panose="020B0604020202020204" pitchFamily="34" charset="0"/>
              </a:rPr>
              <a:t> No structured platform for organizing or participating in artisan events.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SOLUTION</a:t>
            </a:r>
          </a:p>
        </p:txBody>
      </p:sp>
      <p:sp>
        <p:nvSpPr>
          <p:cNvPr id="2" name="Text Placeholder 1">
            <a:extLst>
              <a:ext uri="{FF2B5EF4-FFF2-40B4-BE49-F238E27FC236}">
                <a16:creationId xmlns:a16="http://schemas.microsoft.com/office/drawing/2014/main" id="{1918655F-C7A9-DA7C-8582-3CFB6FA788FC}"/>
              </a:ext>
            </a:extLst>
          </p:cNvPr>
          <p:cNvSpPr>
            <a:spLocks noGrp="1" noChangeArrowheads="1"/>
          </p:cNvSpPr>
          <p:nvPr>
            <p:ph type="body" idx="1"/>
          </p:nvPr>
        </p:nvSpPr>
        <p:spPr bwMode="auto">
          <a:xfrm>
            <a:off x="735291" y="1669127"/>
            <a:ext cx="10135909"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Proposed Solution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Centralized Platform:</a:t>
            </a:r>
            <a:r>
              <a:rPr kumimoji="0" lang="en-US" altLang="en-US" sz="2000" b="0" i="0" u="none" strike="noStrike" cap="none" normalizeH="0" baseline="0" dirty="0">
                <a:ln>
                  <a:noFill/>
                </a:ln>
                <a:solidFill>
                  <a:schemeClr val="tx1"/>
                </a:solidFill>
                <a:effectLst/>
                <a:latin typeface="Arial" panose="020B0604020202020204" pitchFamily="34" charset="0"/>
              </a:rPr>
              <a:t> A web-based marketplace tailored for showcasing and selling ethnic crafts.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Analytics Tools:</a:t>
            </a:r>
            <a:r>
              <a:rPr kumimoji="0" lang="en-US" altLang="en-US" sz="2000" b="0" i="0" u="none" strike="noStrike" cap="none" normalizeH="0" baseline="0" dirty="0">
                <a:ln>
                  <a:noFill/>
                </a:ln>
                <a:solidFill>
                  <a:schemeClr val="tx1"/>
                </a:solidFill>
                <a:effectLst/>
                <a:latin typeface="Arial" panose="020B0604020202020204" pitchFamily="34" charset="0"/>
              </a:rPr>
              <a:t> Features to track sales, rankings, and product views.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Event Management:</a:t>
            </a:r>
            <a:r>
              <a:rPr kumimoji="0" lang="en-US" altLang="en-US" sz="2000" b="0" i="0" u="none" strike="noStrike" cap="none" normalizeH="0" baseline="0" dirty="0">
                <a:ln>
                  <a:noFill/>
                </a:ln>
                <a:solidFill>
                  <a:schemeClr val="tx1"/>
                </a:solidFill>
                <a:effectLst/>
                <a:latin typeface="Arial" panose="020B0604020202020204" pitchFamily="34" charset="0"/>
              </a:rPr>
              <a:t> Tools for creating, joining, and managing artisan events.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Flexible Payments:</a:t>
            </a:r>
            <a:r>
              <a:rPr kumimoji="0" lang="en-US" altLang="en-US" sz="2000" b="0" i="0" u="none" strike="noStrike" cap="none" normalizeH="0" baseline="0" dirty="0">
                <a:ln>
                  <a:noFill/>
                </a:ln>
                <a:solidFill>
                  <a:schemeClr val="tx1"/>
                </a:solidFill>
                <a:effectLst/>
                <a:latin typeface="Arial" panose="020B0604020202020204" pitchFamily="34" charset="0"/>
              </a:rPr>
              <a:t> Multiple payment options including COD and online payments.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328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886B270D-E258-CD99-B14D-91C6F657BBBD}"/>
              </a:ext>
            </a:extLst>
          </p:cNvPr>
          <p:cNvSpPr>
            <a:spLocks noGrp="1" noChangeArrowheads="1"/>
          </p:cNvSpPr>
          <p:nvPr>
            <p:ph type="body" idx="1"/>
          </p:nvPr>
        </p:nvSpPr>
        <p:spPr bwMode="auto">
          <a:xfrm>
            <a:off x="812799" y="3419444"/>
            <a:ext cx="102616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p:txBody>
      </p:sp>
      <p:pic>
        <p:nvPicPr>
          <p:cNvPr id="3" name="Picture 2">
            <a:extLst>
              <a:ext uri="{FF2B5EF4-FFF2-40B4-BE49-F238E27FC236}">
                <a16:creationId xmlns:a16="http://schemas.microsoft.com/office/drawing/2014/main" id="{44E12F9A-0667-3B6A-D4E8-48267DC558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023" y="1244338"/>
            <a:ext cx="10738178" cy="4851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buFont typeface="Wingdings" panose="05000000000000000000" pitchFamily="2" charset="2"/>
              <a:buChar char="Ø"/>
            </a:pPr>
            <a:r>
              <a:rPr lang="en-US" dirty="0"/>
              <a:t>https://www.chanderiyaan.com</a:t>
            </a:r>
            <a:endParaRPr lang="en-US" dirty="0">
              <a:latin typeface="Cambria" panose="02040503050406030204" pitchFamily="18" charset="0"/>
              <a:ea typeface="Cambria" panose="02040503050406030204" pitchFamily="18" charset="0"/>
            </a:endParaRPr>
          </a:p>
          <a:p>
            <a:pPr marL="495300" indent="-342900">
              <a:spcBef>
                <a:spcPts val="0"/>
              </a:spcBef>
              <a:buFont typeface="Wingdings" panose="05000000000000000000" pitchFamily="2" charset="2"/>
              <a:buChar char="Ø"/>
            </a:pPr>
            <a:r>
              <a:rPr lang="en-US" dirty="0">
                <a:hlinkClick r:id="rId3"/>
              </a:rPr>
              <a:t>https://gaatha.com</a:t>
            </a:r>
            <a:endParaRPr lang="en-US" dirty="0"/>
          </a:p>
          <a:p>
            <a:pPr marL="495300" indent="-342900">
              <a:spcBef>
                <a:spcPts val="0"/>
              </a:spcBef>
              <a:buFont typeface="Wingdings" panose="05000000000000000000" pitchFamily="2" charset="2"/>
              <a:buChar char="Ø"/>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323</TotalTime>
  <Words>537</Words>
  <Application>Microsoft Office PowerPoint</Application>
  <PresentationFormat>Widescreen</PresentationFormat>
  <Paragraphs>104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vt:lpstr>
      <vt:lpstr>Cambria Math</vt:lpstr>
      <vt:lpstr>Verdana</vt:lpstr>
      <vt:lpstr>Wingdings</vt:lpstr>
      <vt:lpstr>Bioinformatics</vt:lpstr>
      <vt:lpstr>SMART COMMUNICATIONS </vt:lpstr>
      <vt:lpstr>Content</vt:lpstr>
      <vt:lpstr>Problem Statement Number: PSCS193 </vt:lpstr>
      <vt:lpstr>Github Link</vt:lpstr>
      <vt:lpstr>Technology Stack Components</vt:lpstr>
      <vt:lpstr>Technology Stack Components</vt:lpstr>
      <vt:lpstr>Software and Hardware Requirements</vt:lpstr>
      <vt:lpstr>LIMITATIONS</vt:lpstr>
      <vt:lpstr>SOLUTION</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DARISA VENKATA NARASIMHARAO</cp:lastModifiedBy>
  <cp:revision>237</cp:revision>
  <dcterms:modified xsi:type="dcterms:W3CDTF">2024-09-18T11:04:02Z</dcterms:modified>
</cp:coreProperties>
</file>